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68" r:id="rId15"/>
    <p:sldId id="276" r:id="rId16"/>
    <p:sldId id="272" r:id="rId17"/>
    <p:sldId id="277" r:id="rId18"/>
    <p:sldId id="273" r:id="rId19"/>
    <p:sldId id="278" r:id="rId20"/>
    <p:sldId id="274" r:id="rId21"/>
    <p:sldId id="280" r:id="rId22"/>
    <p:sldId id="281" r:id="rId23"/>
    <p:sldId id="282" r:id="rId24"/>
    <p:sldId id="283" r:id="rId25"/>
    <p:sldId id="270" r:id="rId26"/>
    <p:sldId id="27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F563A8-8C81-8445-AB73-224C50FE703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75"/>
            <p14:sldId id="268"/>
            <p14:sldId id="276"/>
            <p14:sldId id="272"/>
            <p14:sldId id="277"/>
            <p14:sldId id="273"/>
            <p14:sldId id="278"/>
            <p14:sldId id="274"/>
            <p14:sldId id="280"/>
            <p14:sldId id="281"/>
            <p14:sldId id="282"/>
            <p14:sldId id="283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680"/>
    <p:restoredTop sz="94719"/>
  </p:normalViewPr>
  <p:slideViewPr>
    <p:cSldViewPr snapToGrid="0">
      <p:cViewPr varScale="1">
        <p:scale>
          <a:sx n="145" d="100"/>
          <a:sy n="145" d="100"/>
        </p:scale>
        <p:origin x="1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589FD-C1E0-C145-A291-2A489410E085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81519-4D66-9348-95C0-D8B52413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14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81519-4D66-9348-95C0-D8B524135F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9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gi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D8C1-A506-C31F-02BC-3C27FBDA2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#4 Neural </a:t>
            </a:r>
            <a:r>
              <a:rPr lang="en-US" dirty="0" err="1"/>
              <a:t>NEtworks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95832-D321-CBF5-1E38-FE2655549D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Technical University of Kosice</a:t>
            </a:r>
          </a:p>
          <a:p>
            <a:r>
              <a:rPr lang="en-US" dirty="0"/>
              <a:t>Faculty of electrical engineering and informatics</a:t>
            </a:r>
          </a:p>
          <a:p>
            <a:r>
              <a:rPr lang="en-US" dirty="0"/>
              <a:t>Computer modelling</a:t>
            </a:r>
          </a:p>
        </p:txBody>
      </p:sp>
    </p:spTree>
    <p:extLst>
      <p:ext uri="{BB962C8B-B14F-4D97-AF65-F5344CB8AC3E}">
        <p14:creationId xmlns:p14="http://schemas.microsoft.com/office/powerpoint/2010/main" val="2166327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042DB-FA45-1E29-7DA7-0F4659051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B03B9-96AF-B3F9-5920-0A01D127C91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One time setup (activation functions, preprocessing, weight initialization, regularization, gradient checking)</a:t>
            </a:r>
          </a:p>
          <a:p>
            <a:r>
              <a:rPr lang="en-US" dirty="0"/>
              <a:t>Training dynamics (visualization of learning process, gaining insight, hyperparameter optimization)</a:t>
            </a:r>
          </a:p>
          <a:p>
            <a:r>
              <a:rPr lang="en-US" dirty="0"/>
              <a:t>Evaluation (model ensembles)</a:t>
            </a:r>
          </a:p>
        </p:txBody>
      </p:sp>
    </p:spTree>
    <p:extLst>
      <p:ext uri="{BB962C8B-B14F-4D97-AF65-F5344CB8AC3E}">
        <p14:creationId xmlns:p14="http://schemas.microsoft.com/office/powerpoint/2010/main" val="3731917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F5B3-BC09-C831-B2AA-E266FFA26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FC360-FC88-35F1-2C9F-8DD62F8C046C}"/>
              </a:ext>
            </a:extLst>
          </p:cNvPr>
          <p:cNvSpPr txBox="1"/>
          <p:nvPr/>
        </p:nvSpPr>
        <p:spPr>
          <a:xfrm>
            <a:off x="533912" y="1945401"/>
            <a:ext cx="957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Sigmoid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C8049-7468-E2F1-513B-36904FC80B48}"/>
              </a:ext>
            </a:extLst>
          </p:cNvPr>
          <p:cNvSpPr txBox="1"/>
          <p:nvPr/>
        </p:nvSpPr>
        <p:spPr>
          <a:xfrm>
            <a:off x="4902371" y="1945401"/>
            <a:ext cx="957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tanh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999B0-78F7-ABA4-ADC7-58657732FCB0}"/>
              </a:ext>
            </a:extLst>
          </p:cNvPr>
          <p:cNvSpPr txBox="1"/>
          <p:nvPr/>
        </p:nvSpPr>
        <p:spPr>
          <a:xfrm>
            <a:off x="8044470" y="1945401"/>
            <a:ext cx="957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ReLU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3388E8-2A6E-347E-05AB-245A5931AC9A}"/>
              </a:ext>
            </a:extLst>
          </p:cNvPr>
          <p:cNvSpPr txBox="1"/>
          <p:nvPr/>
        </p:nvSpPr>
        <p:spPr>
          <a:xfrm>
            <a:off x="533912" y="4543268"/>
            <a:ext cx="1202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LeakyReLU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E6B63F-5965-6FFD-F588-C448AD22C3AF}"/>
              </a:ext>
            </a:extLst>
          </p:cNvPr>
          <p:cNvSpPr txBox="1"/>
          <p:nvPr/>
        </p:nvSpPr>
        <p:spPr>
          <a:xfrm>
            <a:off x="4779633" y="4266269"/>
            <a:ext cx="1202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SiLU</a:t>
            </a:r>
            <a:r>
              <a:rPr lang="en-US" dirty="0"/>
              <a:t> (Swish)</a:t>
            </a:r>
          </a:p>
        </p:txBody>
      </p:sp>
      <p:pic>
        <p:nvPicPr>
          <p:cNvPr id="10" name="Picture 9" descr="A graph with orange line&#10;&#10;AI-generated content may be incorrect.">
            <a:extLst>
              <a:ext uri="{FF2B5EF4-FFF2-40B4-BE49-F238E27FC236}">
                <a16:creationId xmlns:a16="http://schemas.microsoft.com/office/drawing/2014/main" id="{62808F78-0E74-44CE-FB1E-199F43F13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472" y="2314733"/>
            <a:ext cx="2530826" cy="1687218"/>
          </a:xfrm>
          <a:prstGeom prst="rect">
            <a:avLst/>
          </a:prstGeom>
        </p:spPr>
      </p:pic>
      <p:pic>
        <p:nvPicPr>
          <p:cNvPr id="12" name="Picture 11" descr="A graph with a blue line&#10;&#10;AI-generated content may be incorrect.">
            <a:extLst>
              <a:ext uri="{FF2B5EF4-FFF2-40B4-BE49-F238E27FC236}">
                <a16:creationId xmlns:a16="http://schemas.microsoft.com/office/drawing/2014/main" id="{E559E0D9-4F46-7B28-73A0-41A3CBD8B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" y="2314733"/>
            <a:ext cx="2530827" cy="1687218"/>
          </a:xfrm>
          <a:prstGeom prst="rect">
            <a:avLst/>
          </a:prstGeom>
        </p:spPr>
      </p:pic>
      <p:pic>
        <p:nvPicPr>
          <p:cNvPr id="14" name="Picture 13" descr="A graph with a green line&#10;&#10;AI-generated content may be incorrect.">
            <a:extLst>
              <a:ext uri="{FF2B5EF4-FFF2-40B4-BE49-F238E27FC236}">
                <a16:creationId xmlns:a16="http://schemas.microsoft.com/office/drawing/2014/main" id="{EF71E089-F3E2-DAD7-D968-7548F5BF0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610" y="2332317"/>
            <a:ext cx="2680886" cy="1787257"/>
          </a:xfrm>
          <a:prstGeom prst="rect">
            <a:avLst/>
          </a:prstGeom>
        </p:spPr>
      </p:pic>
      <p:pic>
        <p:nvPicPr>
          <p:cNvPr id="15" name="Content Placeholder 4" descr="A graph with a red line&#10;&#10;AI-generated content may be incorrect.">
            <a:extLst>
              <a:ext uri="{FF2B5EF4-FFF2-40B4-BE49-F238E27FC236}">
                <a16:creationId xmlns:a16="http://schemas.microsoft.com/office/drawing/2014/main" id="{71572856-34D6-2A5A-43C1-F1D31CC7E9F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/>
          <a:stretch>
            <a:fillRect/>
          </a:stretch>
        </p:blipFill>
        <p:spPr>
          <a:xfrm>
            <a:off x="225856" y="4920689"/>
            <a:ext cx="2530827" cy="1687218"/>
          </a:xfrm>
        </p:spPr>
      </p:pic>
      <p:pic>
        <p:nvPicPr>
          <p:cNvPr id="16" name="Content Placeholder 4" descr="A graph with a purple line&#10;&#10;AI-generated content may be incorrect.">
            <a:extLst>
              <a:ext uri="{FF2B5EF4-FFF2-40B4-BE49-F238E27FC236}">
                <a16:creationId xmlns:a16="http://schemas.microsoft.com/office/drawing/2014/main" id="{6AAAD4C2-523E-840E-3D54-37D16FA9E6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739" y="4912600"/>
            <a:ext cx="2530826" cy="168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00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2D45-4345-B532-C579-5FDF213B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</a:t>
            </a:r>
          </a:p>
        </p:txBody>
      </p:sp>
      <p:pic>
        <p:nvPicPr>
          <p:cNvPr id="5" name="Content Placeholder 4" descr="A graph with a blue line&#10;&#10;AI-generated content may be incorrect.">
            <a:extLst>
              <a:ext uri="{FF2B5EF4-FFF2-40B4-BE49-F238E27FC236}">
                <a16:creationId xmlns:a16="http://schemas.microsoft.com/office/drawing/2014/main" id="{DDA1A47E-C568-24DC-49D4-625A2E30DCE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788138" y="1810313"/>
            <a:ext cx="5136355" cy="342423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2BD2D8-8A8C-C5C3-025A-4376B95EB72A}"/>
                  </a:ext>
                </a:extLst>
              </p:cNvPr>
              <p:cNvSpPr txBox="1"/>
              <p:nvPr/>
            </p:nvSpPr>
            <p:spPr>
              <a:xfrm>
                <a:off x="785213" y="1937695"/>
                <a:ext cx="20438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= 1/(1+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1" baseline="3000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2BD2D8-8A8C-C5C3-025A-4376B95EB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213" y="1937695"/>
                <a:ext cx="2043829" cy="276999"/>
              </a:xfrm>
              <a:prstGeom prst="rect">
                <a:avLst/>
              </a:prstGeom>
              <a:blipFill>
                <a:blip r:embed="rId3"/>
                <a:stretch>
                  <a:fillRect t="-8696" r="-1852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A838A9D-F4B3-9B39-7C95-627BA877B65C}"/>
              </a:ext>
            </a:extLst>
          </p:cNvPr>
          <p:cNvSpPr txBox="1"/>
          <p:nvPr/>
        </p:nvSpPr>
        <p:spPr>
          <a:xfrm>
            <a:off x="785213" y="2338940"/>
            <a:ext cx="4052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Squashes number into range [0, 1]</a:t>
            </a:r>
          </a:p>
          <a:p>
            <a:pPr marL="285750" indent="-285750">
              <a:buFontTx/>
              <a:buChar char="-"/>
            </a:pPr>
            <a:r>
              <a:rPr lang="en-US" dirty="0"/>
              <a:t>Saturating “firing rate of a neuron”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2DB4A-2A7B-DAF5-811E-53D0EAA1C343}"/>
              </a:ext>
            </a:extLst>
          </p:cNvPr>
          <p:cNvSpPr txBox="1"/>
          <p:nvPr/>
        </p:nvSpPr>
        <p:spPr>
          <a:xfrm>
            <a:off x="913775" y="3522431"/>
            <a:ext cx="42742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 problems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Saturated neurons “kill” the gradient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Sigmoid outputs are not zero centered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Exp() is a bit compute expensive</a:t>
            </a:r>
          </a:p>
        </p:txBody>
      </p:sp>
    </p:spTree>
    <p:extLst>
      <p:ext uri="{BB962C8B-B14F-4D97-AF65-F5344CB8AC3E}">
        <p14:creationId xmlns:p14="http://schemas.microsoft.com/office/powerpoint/2010/main" val="187387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 descr="A graph with a blue line&#10;&#10;AI-generated content may be incorrect.">
            <a:extLst>
              <a:ext uri="{FF2B5EF4-FFF2-40B4-BE49-F238E27FC236}">
                <a16:creationId xmlns:a16="http://schemas.microsoft.com/office/drawing/2014/main" id="{ED8181AF-880D-E602-115D-A9D4B136E88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144122" y="1483055"/>
            <a:ext cx="3954837" cy="2636558"/>
          </a:xfr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4B34A63-EFA4-5B8F-45FF-C139F6B4720D}"/>
              </a:ext>
            </a:extLst>
          </p:cNvPr>
          <p:cNvSpPr/>
          <p:nvPr/>
        </p:nvSpPr>
        <p:spPr>
          <a:xfrm>
            <a:off x="2646946" y="1925052"/>
            <a:ext cx="2098308" cy="201168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Sigmoid gate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F6875C-7018-4BB8-C55B-07774D937695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4745254" y="2930892"/>
            <a:ext cx="2098308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109DE54-C0EF-C5CE-7410-35156079CEB8}"/>
              </a:ext>
            </a:extLst>
          </p:cNvPr>
          <p:cNvCxnSpPr>
            <a:cxnSpLocks/>
          </p:cNvCxnSpPr>
          <p:nvPr/>
        </p:nvCxnSpPr>
        <p:spPr>
          <a:xfrm flipH="1">
            <a:off x="4745254" y="3108960"/>
            <a:ext cx="20983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9E9E01-C898-717B-45A1-ED1032CE297B}"/>
                  </a:ext>
                </a:extLst>
              </p:cNvPr>
              <p:cNvSpPr txBox="1"/>
              <p:nvPr/>
            </p:nvSpPr>
            <p:spPr>
              <a:xfrm>
                <a:off x="4799733" y="2524335"/>
                <a:ext cx="20438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 = 1/(1+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b="0" i="1" baseline="3000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1" baseline="3000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9E9E01-C898-717B-45A1-ED1032CE2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733" y="2524335"/>
                <a:ext cx="2043829" cy="276999"/>
              </a:xfrm>
              <a:prstGeom prst="rect">
                <a:avLst/>
              </a:prstGeom>
              <a:blipFill>
                <a:blip r:embed="rId3"/>
                <a:stretch>
                  <a:fillRect t="-8696" r="-1227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CF58A1-6E93-84CA-8B6D-EB93ECA2239E}"/>
                  </a:ext>
                </a:extLst>
              </p:cNvPr>
              <p:cNvSpPr txBox="1"/>
              <p:nvPr/>
            </p:nvSpPr>
            <p:spPr>
              <a:xfrm>
                <a:off x="5624856" y="3222293"/>
                <a:ext cx="319831" cy="526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𝜕𝜎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CF58A1-6E93-84CA-8B6D-EB93ECA22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856" y="3222293"/>
                <a:ext cx="319831" cy="526747"/>
              </a:xfrm>
              <a:prstGeom prst="rect">
                <a:avLst/>
              </a:prstGeom>
              <a:blipFill>
                <a:blip r:embed="rId4"/>
                <a:stretch>
                  <a:fillRect l="-19231" t="-2326" r="-46154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234154-8B23-35DC-040F-5A28E3396CFA}"/>
              </a:ext>
            </a:extLst>
          </p:cNvPr>
          <p:cNvCxnSpPr>
            <a:cxnSpLocks/>
          </p:cNvCxnSpPr>
          <p:nvPr/>
        </p:nvCxnSpPr>
        <p:spPr>
          <a:xfrm>
            <a:off x="548638" y="2919663"/>
            <a:ext cx="2098308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7664A41-FADA-0F57-34E7-813BFB112C7C}"/>
              </a:ext>
            </a:extLst>
          </p:cNvPr>
          <p:cNvCxnSpPr>
            <a:cxnSpLocks/>
          </p:cNvCxnSpPr>
          <p:nvPr/>
        </p:nvCxnSpPr>
        <p:spPr>
          <a:xfrm flipH="1">
            <a:off x="548638" y="3097731"/>
            <a:ext cx="20983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059DB4-7AD8-9A2D-6A52-3FC514434F85}"/>
              </a:ext>
            </a:extLst>
          </p:cNvPr>
          <p:cNvSpPr txBox="1"/>
          <p:nvPr/>
        </p:nvSpPr>
        <p:spPr>
          <a:xfrm>
            <a:off x="1418637" y="2524335"/>
            <a:ext cx="1078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FA5375-E344-DDF0-7F69-52BA776F9EB9}"/>
                  </a:ext>
                </a:extLst>
              </p:cNvPr>
              <p:cNvSpPr txBox="1"/>
              <p:nvPr/>
            </p:nvSpPr>
            <p:spPr>
              <a:xfrm>
                <a:off x="-79152" y="3222293"/>
                <a:ext cx="3353887" cy="5266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𝜕𝜎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𝜕𝜎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FA5375-E344-DDF0-7F69-52BA776F9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152" y="3222293"/>
                <a:ext cx="3353887" cy="526683"/>
              </a:xfrm>
              <a:prstGeom prst="rect">
                <a:avLst/>
              </a:prstGeom>
              <a:blipFill>
                <a:blip r:embed="rId5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700A57E-32CF-3997-1E56-A914C1CC4A05}"/>
              </a:ext>
            </a:extLst>
          </p:cNvPr>
          <p:cNvSpPr txBox="1"/>
          <p:nvPr/>
        </p:nvSpPr>
        <p:spPr>
          <a:xfrm>
            <a:off x="789270" y="4562011"/>
            <a:ext cx="5396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= 100, 0, -100?</a:t>
            </a:r>
          </a:p>
        </p:txBody>
      </p:sp>
    </p:spTree>
    <p:extLst>
      <p:ext uri="{BB962C8B-B14F-4D97-AF65-F5344CB8AC3E}">
        <p14:creationId xmlns:p14="http://schemas.microsoft.com/office/powerpoint/2010/main" val="4293660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1F9C5-57A3-E9D0-DF33-6220E6553B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741146"/>
            <a:ext cx="10363826" cy="5050054"/>
          </a:xfrm>
        </p:spPr>
        <p:txBody>
          <a:bodyPr/>
          <a:lstStyle/>
          <a:p>
            <a:r>
              <a:rPr lang="en-US" dirty="0"/>
              <a:t>Constraint in the gradients?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FAC755-C906-1AE9-61E6-5B8827567433}"/>
              </a:ext>
            </a:extLst>
          </p:cNvPr>
          <p:cNvCxnSpPr>
            <a:cxnSpLocks/>
          </p:cNvCxnSpPr>
          <p:nvPr/>
        </p:nvCxnSpPr>
        <p:spPr>
          <a:xfrm flipV="1">
            <a:off x="3397718" y="2030931"/>
            <a:ext cx="2088682" cy="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EC6823-7969-E76C-A45D-09C08B9B6486}"/>
              </a:ext>
            </a:extLst>
          </p:cNvPr>
          <p:cNvCxnSpPr/>
          <p:nvPr/>
        </p:nvCxnSpPr>
        <p:spPr>
          <a:xfrm>
            <a:off x="5515276" y="2040556"/>
            <a:ext cx="0" cy="1886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41DF5F-6192-2D95-3344-CAB55A40CE95}"/>
              </a:ext>
            </a:extLst>
          </p:cNvPr>
          <p:cNvCxnSpPr/>
          <p:nvPr/>
        </p:nvCxnSpPr>
        <p:spPr>
          <a:xfrm>
            <a:off x="5515276" y="3927107"/>
            <a:ext cx="2752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E1BAF4-A521-BCAC-1A1E-1AF64BF9091B}"/>
              </a:ext>
            </a:extLst>
          </p:cNvPr>
          <p:cNvCxnSpPr/>
          <p:nvPr/>
        </p:nvCxnSpPr>
        <p:spPr>
          <a:xfrm>
            <a:off x="8268101" y="3927107"/>
            <a:ext cx="0" cy="1886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BA19F8-8BC3-405B-6C9F-2EC6828A192C}"/>
              </a:ext>
            </a:extLst>
          </p:cNvPr>
          <p:cNvCxnSpPr/>
          <p:nvPr/>
        </p:nvCxnSpPr>
        <p:spPr>
          <a:xfrm>
            <a:off x="3397718" y="2040556"/>
            <a:ext cx="6131293" cy="384048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DFB7C99-4C4A-37B7-E2C4-02A0A825E551}"/>
              </a:ext>
            </a:extLst>
          </p:cNvPr>
          <p:cNvSpPr txBox="1"/>
          <p:nvPr/>
        </p:nvSpPr>
        <p:spPr>
          <a:xfrm>
            <a:off x="7387390" y="1506504"/>
            <a:ext cx="42832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Optimal vector for update does not follow the “zigzag” pattern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Gradients are always all negative or all positive</a:t>
            </a:r>
          </a:p>
        </p:txBody>
      </p:sp>
    </p:spTree>
    <p:extLst>
      <p:ext uri="{BB962C8B-B14F-4D97-AF65-F5344CB8AC3E}">
        <p14:creationId xmlns:p14="http://schemas.microsoft.com/office/powerpoint/2010/main" val="2331232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3743-3B18-C121-A63E-E162D0E8A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Tanh activation function</a:t>
            </a:r>
          </a:p>
        </p:txBody>
      </p:sp>
      <p:pic>
        <p:nvPicPr>
          <p:cNvPr id="5" name="Content Placeholder 4" descr="A graph with orange line&#10;&#10;AI-generated content may be incorrect.">
            <a:extLst>
              <a:ext uri="{FF2B5EF4-FFF2-40B4-BE49-F238E27FC236}">
                <a16:creationId xmlns:a16="http://schemas.microsoft.com/office/drawing/2014/main" id="{41D7646D-49AB-85F1-AF60-91167769D80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6579030" y="2214694"/>
            <a:ext cx="5136355" cy="34242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59CCE3-5C67-0189-496A-471831C8AE57}"/>
              </a:ext>
            </a:extLst>
          </p:cNvPr>
          <p:cNvSpPr txBox="1"/>
          <p:nvPr/>
        </p:nvSpPr>
        <p:spPr>
          <a:xfrm>
            <a:off x="409238" y="2214694"/>
            <a:ext cx="4726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Squashes numbers to range [-1, 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Zero centered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When saturated, still kills gradients</a:t>
            </a:r>
          </a:p>
        </p:txBody>
      </p:sp>
    </p:spTree>
    <p:extLst>
      <p:ext uri="{BB962C8B-B14F-4D97-AF65-F5344CB8AC3E}">
        <p14:creationId xmlns:p14="http://schemas.microsoft.com/office/powerpoint/2010/main" val="4001992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3D5B-487A-62CF-903A-C244BC2D7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ReLU</a:t>
            </a:r>
            <a:r>
              <a:rPr lang="en-US" dirty="0"/>
              <a:t> activation function (rectified linear unit)</a:t>
            </a:r>
          </a:p>
        </p:txBody>
      </p:sp>
      <p:pic>
        <p:nvPicPr>
          <p:cNvPr id="5" name="Content Placeholder 4" descr="A graph with a green line&#10;&#10;AI-generated content may be incorrect.">
            <a:extLst>
              <a:ext uri="{FF2B5EF4-FFF2-40B4-BE49-F238E27FC236}">
                <a16:creationId xmlns:a16="http://schemas.microsoft.com/office/drawing/2014/main" id="{DD943BEC-615F-87B7-19A4-DD5C80B60FC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733035" y="2214694"/>
            <a:ext cx="5136355" cy="34242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A4A02B-E27E-3646-35AB-50D33B9EDAEF}"/>
              </a:ext>
            </a:extLst>
          </p:cNvPr>
          <p:cNvSpPr txBox="1"/>
          <p:nvPr/>
        </p:nvSpPr>
        <p:spPr>
          <a:xfrm>
            <a:off x="770021" y="2127183"/>
            <a:ext cx="501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f(x) = max(0, x)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AEEDE-AD92-0284-DF7E-B492B6461A32}"/>
              </a:ext>
            </a:extLst>
          </p:cNvPr>
          <p:cNvSpPr txBox="1"/>
          <p:nvPr/>
        </p:nvSpPr>
        <p:spPr>
          <a:xfrm>
            <a:off x="913775" y="2858703"/>
            <a:ext cx="5015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Nice properties: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CF0105-EB3A-A638-DF37-76EBBBDB8467}"/>
              </a:ext>
            </a:extLst>
          </p:cNvPr>
          <p:cNvSpPr txBox="1"/>
          <p:nvPr/>
        </p:nvSpPr>
        <p:spPr>
          <a:xfrm>
            <a:off x="1001027" y="3429000"/>
            <a:ext cx="4928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Does not saturate (in + region)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Very computationally 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Converges much faster than sigmoid/tanh in practice (6x)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125C95-F3DC-3F33-84E8-D00DD501CAA0}"/>
              </a:ext>
            </a:extLst>
          </p:cNvPr>
          <p:cNvSpPr txBox="1"/>
          <p:nvPr/>
        </p:nvSpPr>
        <p:spPr>
          <a:xfrm>
            <a:off x="1001027" y="4830294"/>
            <a:ext cx="4928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Not zero-centered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Dead </a:t>
            </a:r>
            <a:r>
              <a:rPr lang="en-US" dirty="0" err="1">
                <a:solidFill>
                  <a:srgbClr val="FF0000"/>
                </a:solidFill>
              </a:rPr>
              <a:t>ReLU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37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8B59A-55BE-90B7-8D46-0C546CBD7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Leaky </a:t>
            </a:r>
            <a:r>
              <a:rPr lang="en-US" dirty="0" err="1"/>
              <a:t>relu</a:t>
            </a:r>
            <a:r>
              <a:rPr lang="en-US" dirty="0"/>
              <a:t> activation function</a:t>
            </a:r>
          </a:p>
        </p:txBody>
      </p:sp>
      <p:pic>
        <p:nvPicPr>
          <p:cNvPr id="5" name="Content Placeholder 4" descr="A graph with a red line&#10;&#10;AI-generated content may be incorrect.">
            <a:extLst>
              <a:ext uri="{FF2B5EF4-FFF2-40B4-BE49-F238E27FC236}">
                <a16:creationId xmlns:a16="http://schemas.microsoft.com/office/drawing/2014/main" id="{6879222E-F9A2-FEDA-2203-7D0C36CE46C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771535" y="2318837"/>
            <a:ext cx="5213355" cy="34755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35658E-BB98-D370-18AC-EB651ACACBEC}"/>
              </a:ext>
            </a:extLst>
          </p:cNvPr>
          <p:cNvSpPr txBox="1"/>
          <p:nvPr/>
        </p:nvSpPr>
        <p:spPr>
          <a:xfrm>
            <a:off x="913774" y="2579294"/>
            <a:ext cx="49281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Does not saturate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Computationally 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Converges much faster than sigmoid/tanh in practice (6x)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Will not “die”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3E185-5BA1-6829-680D-9B58984204AE}"/>
              </a:ext>
            </a:extLst>
          </p:cNvPr>
          <p:cNvSpPr txBox="1"/>
          <p:nvPr/>
        </p:nvSpPr>
        <p:spPr>
          <a:xfrm>
            <a:off x="913774" y="1949505"/>
            <a:ext cx="3715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f(x) = max(0.01x, x)</a:t>
            </a:r>
          </a:p>
        </p:txBody>
      </p:sp>
    </p:spTree>
    <p:extLst>
      <p:ext uri="{BB962C8B-B14F-4D97-AF65-F5344CB8AC3E}">
        <p14:creationId xmlns:p14="http://schemas.microsoft.com/office/powerpoint/2010/main" val="194804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6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7030C-C2DA-FB95-30F3-776F76D46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Silu</a:t>
            </a:r>
            <a:r>
              <a:rPr lang="en-US" dirty="0"/>
              <a:t> activation function</a:t>
            </a:r>
          </a:p>
        </p:txBody>
      </p:sp>
      <p:pic>
        <p:nvPicPr>
          <p:cNvPr id="5" name="Content Placeholder 4" descr="A graph with a purple line&#10;&#10;AI-generated content may be incorrect.">
            <a:extLst>
              <a:ext uri="{FF2B5EF4-FFF2-40B4-BE49-F238E27FC236}">
                <a16:creationId xmlns:a16="http://schemas.microsoft.com/office/drawing/2014/main" id="{16A96CF2-B6F5-2E35-5F51-5539400094D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146921" y="2376588"/>
            <a:ext cx="4316767" cy="287784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D71D9A-F440-1A3C-2C7C-F347158A77CF}"/>
                  </a:ext>
                </a:extLst>
              </p:cNvPr>
              <p:cNvSpPr txBox="1"/>
              <p:nvPr/>
            </p:nvSpPr>
            <p:spPr>
              <a:xfrm>
                <a:off x="991401" y="2093802"/>
                <a:ext cx="1586268" cy="4789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D71D9A-F440-1A3C-2C7C-F347158A7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401" y="2093802"/>
                <a:ext cx="1586268" cy="478977"/>
              </a:xfrm>
              <a:prstGeom prst="rect">
                <a:avLst/>
              </a:prstGeom>
              <a:blipFill>
                <a:blip r:embed="rId3"/>
                <a:stretch>
                  <a:fillRect l="-4762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27DC178-E229-47EB-1506-85955B010195}"/>
              </a:ext>
            </a:extLst>
          </p:cNvPr>
          <p:cNvSpPr txBox="1"/>
          <p:nvPr/>
        </p:nvSpPr>
        <p:spPr>
          <a:xfrm>
            <a:off x="693019" y="2704699"/>
            <a:ext cx="51687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Smooth &amp; Non-Monotonic:</a:t>
            </a:r>
            <a:r>
              <a:rPr lang="en-US" dirty="0">
                <a:solidFill>
                  <a:srgbClr val="00B050"/>
                </a:solidFill>
              </a:rPr>
              <a:t> The function is smooth everywhere (no sharp corner like </a:t>
            </a:r>
            <a:r>
              <a:rPr lang="en-US" dirty="0" err="1">
                <a:solidFill>
                  <a:srgbClr val="00B050"/>
                </a:solidFill>
              </a:rPr>
              <a:t>ReLU</a:t>
            </a:r>
            <a:r>
              <a:rPr lang="en-US" dirty="0">
                <a:solidFill>
                  <a:srgbClr val="00B050"/>
                </a:solidFill>
              </a:rPr>
              <a:t>). The small negative "bump" adds expressive power.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Unbounded Above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Outperforms </a:t>
            </a:r>
            <a:r>
              <a:rPr lang="en-US" dirty="0" err="1">
                <a:solidFill>
                  <a:srgbClr val="00B050"/>
                </a:solidFill>
              </a:rPr>
              <a:t>ReLU</a:t>
            </a:r>
            <a:endParaRPr lang="en-US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Computationally Heavier</a:t>
            </a:r>
          </a:p>
        </p:txBody>
      </p:sp>
    </p:spTree>
    <p:extLst>
      <p:ext uri="{BB962C8B-B14F-4D97-AF65-F5344CB8AC3E}">
        <p14:creationId xmlns:p14="http://schemas.microsoft.com/office/powerpoint/2010/main" val="604329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0BB52-FF8D-05DD-F4EA-EBF539EBF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Preprocessing data</a:t>
            </a:r>
            <a:endParaRPr lang="en-US" dirty="0"/>
          </a:p>
        </p:txBody>
      </p:sp>
      <p:pic>
        <p:nvPicPr>
          <p:cNvPr id="5" name="Content Placeholder 4" descr="A graph with green dots&#10;&#10;AI-generated content may be incorrect.">
            <a:extLst>
              <a:ext uri="{FF2B5EF4-FFF2-40B4-BE49-F238E27FC236}">
                <a16:creationId xmlns:a16="http://schemas.microsoft.com/office/drawing/2014/main" id="{9539A384-D331-7233-CD1B-C8F606A6E4B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9682" y="2039704"/>
            <a:ext cx="11712015" cy="3904005"/>
          </a:xfrm>
        </p:spPr>
      </p:pic>
    </p:spTree>
    <p:extLst>
      <p:ext uri="{BB962C8B-B14F-4D97-AF65-F5344CB8AC3E}">
        <p14:creationId xmlns:p14="http://schemas.microsoft.com/office/powerpoint/2010/main" val="376406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5394-B759-7104-DFF1-ADA2F0EB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initialization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FE4DA8-CFD1-6E09-22F9-DAC945FD2F40}"/>
              </a:ext>
            </a:extLst>
          </p:cNvPr>
          <p:cNvSpPr/>
          <p:nvPr/>
        </p:nvSpPr>
        <p:spPr>
          <a:xfrm>
            <a:off x="2993457" y="2464067"/>
            <a:ext cx="606391" cy="567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414176D-4156-69DD-BAB6-B37521DC4F93}"/>
              </a:ext>
            </a:extLst>
          </p:cNvPr>
          <p:cNvSpPr/>
          <p:nvPr/>
        </p:nvSpPr>
        <p:spPr>
          <a:xfrm>
            <a:off x="2993456" y="4739559"/>
            <a:ext cx="606391" cy="567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DCF80E-F3FC-EF8E-3FC0-969830E9EEF5}"/>
              </a:ext>
            </a:extLst>
          </p:cNvPr>
          <p:cNvSpPr/>
          <p:nvPr/>
        </p:nvSpPr>
        <p:spPr>
          <a:xfrm>
            <a:off x="2993455" y="3601813"/>
            <a:ext cx="606391" cy="567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0086F1-B3EE-9193-632A-C22332DBE20C}"/>
              </a:ext>
            </a:extLst>
          </p:cNvPr>
          <p:cNvSpPr/>
          <p:nvPr/>
        </p:nvSpPr>
        <p:spPr>
          <a:xfrm>
            <a:off x="4618523" y="3031958"/>
            <a:ext cx="606391" cy="567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1198DFC-10E3-6F47-80C3-25BC33E24704}"/>
              </a:ext>
            </a:extLst>
          </p:cNvPr>
          <p:cNvSpPr/>
          <p:nvPr/>
        </p:nvSpPr>
        <p:spPr>
          <a:xfrm>
            <a:off x="4618522" y="4171668"/>
            <a:ext cx="606391" cy="567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A60C6C-A14E-D2C5-8466-49929D758D93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3599848" y="2748013"/>
            <a:ext cx="1018675" cy="56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9413E7-6281-C2DF-C910-FFA7DA86FC9D}"/>
              </a:ext>
            </a:extLst>
          </p:cNvPr>
          <p:cNvCxnSpPr>
            <a:stCxn id="6" idx="6"/>
            <a:endCxn id="7" idx="2"/>
          </p:cNvCxnSpPr>
          <p:nvPr/>
        </p:nvCxnSpPr>
        <p:spPr>
          <a:xfrm flipV="1">
            <a:off x="3599846" y="3315904"/>
            <a:ext cx="1018677" cy="569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3DFB1B-6125-1B89-F162-6956C068C760}"/>
              </a:ext>
            </a:extLst>
          </p:cNvPr>
          <p:cNvCxnSpPr>
            <a:stCxn id="5" idx="6"/>
            <a:endCxn id="7" idx="2"/>
          </p:cNvCxnSpPr>
          <p:nvPr/>
        </p:nvCxnSpPr>
        <p:spPr>
          <a:xfrm flipV="1">
            <a:off x="3599847" y="3315904"/>
            <a:ext cx="1018676" cy="1707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DC87F9-6774-EA94-3D1C-833D54EBE87F}"/>
              </a:ext>
            </a:extLst>
          </p:cNvPr>
          <p:cNvCxnSpPr>
            <a:stCxn id="4" idx="6"/>
            <a:endCxn id="8" idx="2"/>
          </p:cNvCxnSpPr>
          <p:nvPr/>
        </p:nvCxnSpPr>
        <p:spPr>
          <a:xfrm>
            <a:off x="3599848" y="2748013"/>
            <a:ext cx="1018674" cy="1707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4327C3-8A4C-6AC1-6203-96176A04EAF5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3599846" y="3885759"/>
            <a:ext cx="1018676" cy="569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01D141-F772-F091-031E-9C9BC8EBFAF1}"/>
              </a:ext>
            </a:extLst>
          </p:cNvPr>
          <p:cNvCxnSpPr>
            <a:stCxn id="5" idx="6"/>
            <a:endCxn id="8" idx="2"/>
          </p:cNvCxnSpPr>
          <p:nvPr/>
        </p:nvCxnSpPr>
        <p:spPr>
          <a:xfrm flipV="1">
            <a:off x="3599847" y="4455614"/>
            <a:ext cx="1018675" cy="56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34DBF6B-D714-0B0C-A29B-0D1ECFA1FB18}"/>
              </a:ext>
            </a:extLst>
          </p:cNvPr>
          <p:cNvSpPr/>
          <p:nvPr/>
        </p:nvSpPr>
        <p:spPr>
          <a:xfrm>
            <a:off x="5792804" y="3601813"/>
            <a:ext cx="606391" cy="567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2607361-D7C2-C0D9-AD6D-55A2780051AE}"/>
              </a:ext>
            </a:extLst>
          </p:cNvPr>
          <p:cNvCxnSpPr>
            <a:endCxn id="21" idx="2"/>
          </p:cNvCxnSpPr>
          <p:nvPr/>
        </p:nvCxnSpPr>
        <p:spPr>
          <a:xfrm>
            <a:off x="5224913" y="3315903"/>
            <a:ext cx="567891" cy="569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54D5841-BD42-69C4-F260-4E7247E25D0C}"/>
              </a:ext>
            </a:extLst>
          </p:cNvPr>
          <p:cNvCxnSpPr>
            <a:stCxn id="8" idx="6"/>
            <a:endCxn id="21" idx="2"/>
          </p:cNvCxnSpPr>
          <p:nvPr/>
        </p:nvCxnSpPr>
        <p:spPr>
          <a:xfrm flipV="1">
            <a:off x="5224913" y="3885759"/>
            <a:ext cx="567891" cy="569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31159BC-9573-B9EB-238B-7F41D1CC2091}"/>
              </a:ext>
            </a:extLst>
          </p:cNvPr>
          <p:cNvSpPr txBox="1"/>
          <p:nvPr/>
        </p:nvSpPr>
        <p:spPr>
          <a:xfrm>
            <a:off x="7161196" y="2319688"/>
            <a:ext cx="24255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W = 0 ?</a:t>
            </a:r>
          </a:p>
          <a:p>
            <a:pPr marL="285750" indent="-285750">
              <a:buFontTx/>
              <a:buChar char="-"/>
            </a:pPr>
            <a:r>
              <a:rPr lang="en-US" dirty="0"/>
              <a:t>Small Gaussian Initialization?</a:t>
            </a:r>
          </a:p>
          <a:p>
            <a:pPr marL="285750" indent="-285750">
              <a:buFontTx/>
              <a:buChar char="-"/>
            </a:pPr>
            <a:r>
              <a:rPr lang="en-US" dirty="0"/>
              <a:t>Large Gaussian Initializations? 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527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BDA762-AB69-BA3C-B268-4246C3D5B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20" y="975072"/>
            <a:ext cx="7772400" cy="490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41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AE4C-48DC-7A82-69D1-0C9778EC7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idea (zero mean, 1e-2 std)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BE530-E354-D507-B0FD-0319C8E6F4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Gaussian distribution with zero mean and 1e-2 standard deviation</a:t>
            </a:r>
          </a:p>
          <a:p>
            <a:r>
              <a:rPr lang="en-US" dirty="0"/>
              <a:t>W = 0.01 * </a:t>
            </a:r>
            <a:r>
              <a:rPr lang="en-US" dirty="0" err="1"/>
              <a:t>np.random.randn</a:t>
            </a:r>
            <a:r>
              <a:rPr lang="en-US" dirty="0"/>
              <a:t>(d, 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9719A-0D7F-433F-242C-01886FB08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74" y="3601729"/>
            <a:ext cx="2627034" cy="225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22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7DF94D-5B62-256E-1A65-FBB75DA25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086" y="1039488"/>
            <a:ext cx="7772400" cy="491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607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FD6F-F17C-D840-E65E-D034FDCD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idea (zero mean, high gaussians std)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78A29-59B4-7B60-3B0F-991A49526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4" y="3081795"/>
            <a:ext cx="3085882" cy="270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574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254BF4-9113-6EEE-468D-E20992B66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73528"/>
            <a:ext cx="7772400" cy="491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68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2AD7D-CBED-E4A2-00DE-92C74AD8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Xavier initialization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52FC7-FC21-8466-8016-392DE5FEA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81" y="2342333"/>
            <a:ext cx="2798434" cy="2357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29C78C-FC1E-EB5D-64DA-5815BDF68F94}"/>
              </a:ext>
            </a:extLst>
          </p:cNvPr>
          <p:cNvSpPr txBox="1"/>
          <p:nvPr/>
        </p:nvSpPr>
        <p:spPr>
          <a:xfrm>
            <a:off x="4854298" y="2460902"/>
            <a:ext cx="5983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W = </a:t>
            </a:r>
            <a:r>
              <a:rPr lang="en-US" dirty="0" err="1"/>
              <a:t>np.random.randn</a:t>
            </a:r>
            <a:r>
              <a:rPr lang="en-US" dirty="0"/>
              <a:t>(</a:t>
            </a:r>
            <a:r>
              <a:rPr lang="en-US" dirty="0" err="1"/>
              <a:t>fan_in</a:t>
            </a:r>
            <a:r>
              <a:rPr lang="en-US" dirty="0"/>
              <a:t>, </a:t>
            </a:r>
            <a:r>
              <a:rPr lang="en-US" dirty="0" err="1"/>
              <a:t>fan_out</a:t>
            </a:r>
            <a:r>
              <a:rPr lang="en-US" dirty="0"/>
              <a:t>) / </a:t>
            </a:r>
            <a:r>
              <a:rPr lang="en-US" dirty="0" err="1"/>
              <a:t>np.sqrt</a:t>
            </a:r>
            <a:r>
              <a:rPr lang="en-US" dirty="0"/>
              <a:t>(</a:t>
            </a:r>
            <a:r>
              <a:rPr lang="en-US" dirty="0" err="1"/>
              <a:t>fan_in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91505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CA9350-9F5B-9972-E020-013728462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73528"/>
            <a:ext cx="7772400" cy="491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47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D9AD7-97C3-AEE6-CED8-0F8FA5A1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Kaiming/he initialization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89EA0C-EBC5-CC81-9506-E6735129A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19" y="1762359"/>
            <a:ext cx="2522825" cy="20854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09F7B6-FD38-61AA-3D70-5E489D17D1B6}"/>
              </a:ext>
            </a:extLst>
          </p:cNvPr>
          <p:cNvSpPr txBox="1"/>
          <p:nvPr/>
        </p:nvSpPr>
        <p:spPr>
          <a:xfrm>
            <a:off x="4835888" y="1845362"/>
            <a:ext cx="5983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W = </a:t>
            </a:r>
            <a:r>
              <a:rPr lang="en-US" dirty="0" err="1"/>
              <a:t>np.random.randn</a:t>
            </a:r>
            <a:r>
              <a:rPr lang="en-US" dirty="0"/>
              <a:t>(</a:t>
            </a:r>
            <a:r>
              <a:rPr lang="en-US" dirty="0" err="1"/>
              <a:t>fan_in</a:t>
            </a:r>
            <a:r>
              <a:rPr lang="en-US" dirty="0"/>
              <a:t>, </a:t>
            </a:r>
            <a:r>
              <a:rPr lang="en-US" dirty="0" err="1"/>
              <a:t>fan_out</a:t>
            </a:r>
            <a:r>
              <a:rPr lang="en-US" dirty="0"/>
              <a:t>) / </a:t>
            </a:r>
            <a:r>
              <a:rPr lang="en-US" dirty="0" err="1"/>
              <a:t>np.sqrt</a:t>
            </a:r>
            <a:r>
              <a:rPr lang="en-US" dirty="0"/>
              <a:t>(</a:t>
            </a:r>
            <a:r>
              <a:rPr lang="en-US" dirty="0" err="1"/>
              <a:t>fan_in</a:t>
            </a:r>
            <a:r>
              <a:rPr lang="en-US" dirty="0"/>
              <a:t>/2)</a:t>
            </a:r>
          </a:p>
        </p:txBody>
      </p:sp>
    </p:spTree>
    <p:extLst>
      <p:ext uri="{BB962C8B-B14F-4D97-AF65-F5344CB8AC3E}">
        <p14:creationId xmlns:p14="http://schemas.microsoft.com/office/powerpoint/2010/main" val="738915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297C3A-3911-824E-76DB-FF3C751B7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73528"/>
            <a:ext cx="7772400" cy="491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248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54D585-BEDA-C3C5-F299-A7155B3A9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06295"/>
            <a:ext cx="7772400" cy="43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04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EC8062E3-A951-52B8-4814-246D58CC5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614" y="3803659"/>
            <a:ext cx="4391983" cy="2635190"/>
          </a:xfrm>
          <a:prstGeom prst="rect">
            <a:avLst/>
          </a:prstGeom>
        </p:spPr>
      </p:pic>
      <p:pic>
        <p:nvPicPr>
          <p:cNvPr id="9" name="Picture 8" descr="A graph of a graph&#10;&#10;AI-generated content may be incorrect.">
            <a:extLst>
              <a:ext uri="{FF2B5EF4-FFF2-40B4-BE49-F238E27FC236}">
                <a16:creationId xmlns:a16="http://schemas.microsoft.com/office/drawing/2014/main" id="{30A0FB9A-2944-6A01-1E1D-70F6BE50D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27773"/>
            <a:ext cx="4715195" cy="2829117"/>
          </a:xfrm>
          <a:prstGeom prst="rect">
            <a:avLst/>
          </a:prstGeom>
        </p:spPr>
      </p:pic>
      <p:pic>
        <p:nvPicPr>
          <p:cNvPr id="11" name="Picture 10" descr="A graph with red squares&#10;&#10;AI-generated content may be incorrect.">
            <a:extLst>
              <a:ext uri="{FF2B5EF4-FFF2-40B4-BE49-F238E27FC236}">
                <a16:creationId xmlns:a16="http://schemas.microsoft.com/office/drawing/2014/main" id="{5349CB50-4A0D-83FF-84AD-CB7B5FA3B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93" y="495555"/>
            <a:ext cx="4889075" cy="293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87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5E6125-1EE0-62C6-51BA-B58EE78FE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11260"/>
            <a:ext cx="7772400" cy="188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1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3E60-E4AA-3B59-B0D0-EEACCED7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061" y="2790984"/>
            <a:ext cx="10364451" cy="1596177"/>
          </a:xfrm>
        </p:spPr>
        <p:txBody>
          <a:bodyPr/>
          <a:lstStyle/>
          <a:p>
            <a:r>
              <a:rPr lang="en-US" dirty="0"/>
              <a:t>optimizers</a:t>
            </a:r>
          </a:p>
        </p:txBody>
      </p:sp>
    </p:spTree>
    <p:extLst>
      <p:ext uri="{BB962C8B-B14F-4D97-AF65-F5344CB8AC3E}">
        <p14:creationId xmlns:p14="http://schemas.microsoft.com/office/powerpoint/2010/main" val="2822447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D4696-3820-117F-8197-15C2EF5D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Mini-batch stochastic gradient descent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7CA14-D027-8178-766D-7853238D55DD}"/>
              </a:ext>
            </a:extLst>
          </p:cNvPr>
          <p:cNvSpPr txBox="1"/>
          <p:nvPr/>
        </p:nvSpPr>
        <p:spPr>
          <a:xfrm>
            <a:off x="1276477" y="2004141"/>
            <a:ext cx="73274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Loop:</a:t>
            </a:r>
          </a:p>
          <a:p>
            <a:pPr marL="342900" indent="-342900">
              <a:buAutoNum type="arabicPeriod"/>
            </a:pPr>
            <a:r>
              <a:rPr lang="en-US" dirty="0"/>
              <a:t>Sample batch of data</a:t>
            </a:r>
          </a:p>
          <a:p>
            <a:pPr marL="342900" indent="-342900">
              <a:buAutoNum type="arabicPeriod"/>
            </a:pPr>
            <a:r>
              <a:rPr lang="en-US" dirty="0"/>
              <a:t>Forward function to obtain loss</a:t>
            </a:r>
          </a:p>
          <a:p>
            <a:pPr marL="342900" indent="-342900">
              <a:buAutoNum type="arabicPeriod"/>
            </a:pPr>
            <a:r>
              <a:rPr lang="en-US" dirty="0"/>
              <a:t>Backward function to calculate gradients</a:t>
            </a:r>
          </a:p>
          <a:p>
            <a:pPr marL="342900" indent="-342900">
              <a:buAutoNum type="arabicPeriod"/>
            </a:pPr>
            <a:r>
              <a:rPr lang="en-US" dirty="0"/>
              <a:t>Update the parameters using the gradients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C9DC73-17D6-A7C4-8C09-4D3E77EAD60C}"/>
              </a:ext>
            </a:extLst>
          </p:cNvPr>
          <p:cNvSpPr/>
          <p:nvPr/>
        </p:nvSpPr>
        <p:spPr>
          <a:xfrm>
            <a:off x="4177881" y="3840770"/>
            <a:ext cx="606391" cy="567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0FC9D7-A294-D9D9-F242-5AB28A7C8337}"/>
              </a:ext>
            </a:extLst>
          </p:cNvPr>
          <p:cNvSpPr/>
          <p:nvPr/>
        </p:nvSpPr>
        <p:spPr>
          <a:xfrm>
            <a:off x="4177880" y="6116262"/>
            <a:ext cx="606391" cy="567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A83CC1-B6EB-5D38-768A-928F1EDE8AD3}"/>
              </a:ext>
            </a:extLst>
          </p:cNvPr>
          <p:cNvSpPr/>
          <p:nvPr/>
        </p:nvSpPr>
        <p:spPr>
          <a:xfrm>
            <a:off x="4177879" y="4978516"/>
            <a:ext cx="606391" cy="567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2C3C8C-E2B7-B055-D741-F348F2EAA8E1}"/>
              </a:ext>
            </a:extLst>
          </p:cNvPr>
          <p:cNvSpPr/>
          <p:nvPr/>
        </p:nvSpPr>
        <p:spPr>
          <a:xfrm>
            <a:off x="5802947" y="4408661"/>
            <a:ext cx="606391" cy="567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D5B79A-7D41-FE09-8D37-221F206EE2AC}"/>
              </a:ext>
            </a:extLst>
          </p:cNvPr>
          <p:cNvSpPr/>
          <p:nvPr/>
        </p:nvSpPr>
        <p:spPr>
          <a:xfrm>
            <a:off x="5802946" y="5548371"/>
            <a:ext cx="606391" cy="567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D57924-7316-E89B-1129-E5FFCCEB982E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4784272" y="4124716"/>
            <a:ext cx="1018675" cy="56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1492A0-FDC7-A8E6-5D39-A6DEC6CDFDD4}"/>
              </a:ext>
            </a:extLst>
          </p:cNvPr>
          <p:cNvCxnSpPr>
            <a:stCxn id="6" idx="6"/>
            <a:endCxn id="7" idx="2"/>
          </p:cNvCxnSpPr>
          <p:nvPr/>
        </p:nvCxnSpPr>
        <p:spPr>
          <a:xfrm flipV="1">
            <a:off x="4784270" y="4692607"/>
            <a:ext cx="1018677" cy="569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F2AF60-F8A3-E7AE-7928-B3F3C42ACB43}"/>
              </a:ext>
            </a:extLst>
          </p:cNvPr>
          <p:cNvCxnSpPr>
            <a:stCxn id="5" idx="6"/>
            <a:endCxn id="7" idx="2"/>
          </p:cNvCxnSpPr>
          <p:nvPr/>
        </p:nvCxnSpPr>
        <p:spPr>
          <a:xfrm flipV="1">
            <a:off x="4784271" y="4692607"/>
            <a:ext cx="1018676" cy="1707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B04DDD-18CF-5603-50E5-9190AFE3D88E}"/>
              </a:ext>
            </a:extLst>
          </p:cNvPr>
          <p:cNvCxnSpPr>
            <a:stCxn id="4" idx="6"/>
            <a:endCxn id="8" idx="2"/>
          </p:cNvCxnSpPr>
          <p:nvPr/>
        </p:nvCxnSpPr>
        <p:spPr>
          <a:xfrm>
            <a:off x="4784272" y="4124716"/>
            <a:ext cx="1018674" cy="1707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F55535-C79A-7CB6-5C13-C13816BF8D7C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784270" y="5262462"/>
            <a:ext cx="1018676" cy="569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0236E0-AB55-C312-281F-EE495FB89F49}"/>
              </a:ext>
            </a:extLst>
          </p:cNvPr>
          <p:cNvCxnSpPr>
            <a:stCxn id="5" idx="6"/>
            <a:endCxn id="8" idx="2"/>
          </p:cNvCxnSpPr>
          <p:nvPr/>
        </p:nvCxnSpPr>
        <p:spPr>
          <a:xfrm flipV="1">
            <a:off x="4784271" y="5832317"/>
            <a:ext cx="1018675" cy="56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1C03DE5-FB8E-B20C-DBD8-BBEE1D48C772}"/>
              </a:ext>
            </a:extLst>
          </p:cNvPr>
          <p:cNvSpPr/>
          <p:nvPr/>
        </p:nvSpPr>
        <p:spPr>
          <a:xfrm>
            <a:off x="6977228" y="4978516"/>
            <a:ext cx="606391" cy="567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FE7D95A-FB83-542B-6D76-BA75A410FE49}"/>
              </a:ext>
            </a:extLst>
          </p:cNvPr>
          <p:cNvCxnSpPr>
            <a:endCxn id="15" idx="2"/>
          </p:cNvCxnSpPr>
          <p:nvPr/>
        </p:nvCxnSpPr>
        <p:spPr>
          <a:xfrm>
            <a:off x="6409337" y="4692606"/>
            <a:ext cx="567891" cy="569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31A5A1-BB40-B9AD-E96B-EAB27404D0C6}"/>
              </a:ext>
            </a:extLst>
          </p:cNvPr>
          <p:cNvCxnSpPr>
            <a:stCxn id="8" idx="6"/>
            <a:endCxn id="15" idx="2"/>
          </p:cNvCxnSpPr>
          <p:nvPr/>
        </p:nvCxnSpPr>
        <p:spPr>
          <a:xfrm flipV="1">
            <a:off x="6409337" y="5262462"/>
            <a:ext cx="567891" cy="569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52F577E-36C4-1FEF-F780-F0987E92459A}"/>
              </a:ext>
            </a:extLst>
          </p:cNvPr>
          <p:cNvSpPr txBox="1"/>
          <p:nvPr/>
        </p:nvSpPr>
        <p:spPr>
          <a:xfrm>
            <a:off x="3803528" y="3902371"/>
            <a:ext cx="374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C6690D-37EC-82CE-98E2-E06E721EB1E8}"/>
              </a:ext>
            </a:extLst>
          </p:cNvPr>
          <p:cNvSpPr txBox="1"/>
          <p:nvPr/>
        </p:nvSpPr>
        <p:spPr>
          <a:xfrm>
            <a:off x="3803526" y="5021443"/>
            <a:ext cx="374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096685-88B2-F33F-D0C0-029F6B433A0A}"/>
              </a:ext>
            </a:extLst>
          </p:cNvPr>
          <p:cNvSpPr txBox="1"/>
          <p:nvPr/>
        </p:nvSpPr>
        <p:spPr>
          <a:xfrm>
            <a:off x="3803526" y="6215541"/>
            <a:ext cx="374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419007774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3937</TotalTime>
  <Words>466</Words>
  <Application>Microsoft Macintosh PowerPoint</Application>
  <PresentationFormat>Widescreen</PresentationFormat>
  <Paragraphs>80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Cambria Math</vt:lpstr>
      <vt:lpstr>Tw Cen MT</vt:lpstr>
      <vt:lpstr>Droplet</vt:lpstr>
      <vt:lpstr>#4 Neural NEtworks</vt:lpstr>
      <vt:lpstr>Overview</vt:lpstr>
      <vt:lpstr>Activation functions</vt:lpstr>
      <vt:lpstr>Sigmoid</vt:lpstr>
      <vt:lpstr>PowerPoint Presentation</vt:lpstr>
      <vt:lpstr>PowerPoint Presentation</vt:lpstr>
      <vt:lpstr>Tanh activation function</vt:lpstr>
      <vt:lpstr>ReLU activation function (rectified linear unit)</vt:lpstr>
      <vt:lpstr>Leaky relu activation function</vt:lpstr>
      <vt:lpstr>Silu activation function</vt:lpstr>
      <vt:lpstr>Preprocessing data</vt:lpstr>
      <vt:lpstr>Weight initialization</vt:lpstr>
      <vt:lpstr>PowerPoint Presentation</vt:lpstr>
      <vt:lpstr>First idea (zero mean, 1e-2 std)</vt:lpstr>
      <vt:lpstr>PowerPoint Presentation</vt:lpstr>
      <vt:lpstr>Second idea (zero mean, high gaussians std)</vt:lpstr>
      <vt:lpstr>PowerPoint Presentation</vt:lpstr>
      <vt:lpstr>Xavier initialization</vt:lpstr>
      <vt:lpstr>PowerPoint Presentation</vt:lpstr>
      <vt:lpstr>Kaiming/he initialization</vt:lpstr>
      <vt:lpstr>PowerPoint Presentation</vt:lpstr>
      <vt:lpstr>PowerPoint Presentation</vt:lpstr>
      <vt:lpstr>PowerPoint Presentation</vt:lpstr>
      <vt:lpstr>PowerPoint Presentation</vt:lpstr>
      <vt:lpstr>optimizers</vt:lpstr>
      <vt:lpstr>Mini-batch stochastic gradient descent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Matej Gazda</dc:creator>
  <cp:lastModifiedBy>Matej Gazda</cp:lastModifiedBy>
  <cp:revision>24</cp:revision>
  <dcterms:created xsi:type="dcterms:W3CDTF">2025-08-15T08:06:13Z</dcterms:created>
  <dcterms:modified xsi:type="dcterms:W3CDTF">2025-10-22T07:55:50Z</dcterms:modified>
</cp:coreProperties>
</file>