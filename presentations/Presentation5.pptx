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0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8F563A8-8C81-8445-AB73-224C50FE7037}">
          <p14:sldIdLst>
            <p14:sldId id="256"/>
            <p14:sldId id="257"/>
            <p14:sldId id="263"/>
            <p14:sldId id="258"/>
            <p14:sldId id="259"/>
            <p14:sldId id="260"/>
            <p14:sldId id="261"/>
            <p14:sldId id="262"/>
            <p14:sldId id="264"/>
            <p14:sldId id="265"/>
            <p14:sldId id="266"/>
            <p14:sldId id="267"/>
            <p14:sldId id="268"/>
            <p14:sldId id="269"/>
            <p14:sldId id="271"/>
            <p14:sldId id="272"/>
            <p14:sldId id="270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30"/>
    <p:restoredTop sz="96583"/>
  </p:normalViewPr>
  <p:slideViewPr>
    <p:cSldViewPr snapToGrid="0">
      <p:cViewPr varScale="1">
        <p:scale>
          <a:sx n="125" d="100"/>
          <a:sy n="125" d="100"/>
        </p:scale>
        <p:origin x="176" y="9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A589FD-C1E0-C145-A291-2A489410E085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B81519-4D66-9348-95C0-D8B524135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614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10/27/25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10/27/25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10/27/25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10/27/25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10/27/25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10/27/25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gif"/><Relationship Id="rId4" Type="http://schemas.openxmlformats.org/officeDocument/2006/relationships/image" Target="../media/image10.gi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deeplizard.com/resource/pavq7noze2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deeplizard.com/resource/pavq7noze2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CD8C1-A506-C31F-02BC-3C27FBDA22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Convolutional Neural Networks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A95832-D321-CBF5-1E38-FE2655549D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Technical University of Kosice</a:t>
            </a:r>
          </a:p>
          <a:p>
            <a:r>
              <a:rPr lang="en-US" dirty="0"/>
              <a:t>Faculty of electrical engineering and informatics</a:t>
            </a:r>
          </a:p>
          <a:p>
            <a:r>
              <a:rPr lang="en-US" dirty="0"/>
              <a:t>Computer modelling</a:t>
            </a:r>
          </a:p>
        </p:txBody>
      </p:sp>
    </p:spTree>
    <p:extLst>
      <p:ext uri="{BB962C8B-B14F-4D97-AF65-F5344CB8AC3E}">
        <p14:creationId xmlns:p14="http://schemas.microsoft.com/office/powerpoint/2010/main" val="2166327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1FC3A-2477-DBF0-5F41-CD36A1FA4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Convolutional 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F179B-5B97-37D4-EBEB-73E73F9B647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Inductive biases </a:t>
            </a:r>
          </a:p>
        </p:txBody>
      </p:sp>
    </p:spTree>
    <p:extLst>
      <p:ext uri="{BB962C8B-B14F-4D97-AF65-F5344CB8AC3E}">
        <p14:creationId xmlns:p14="http://schemas.microsoft.com/office/powerpoint/2010/main" val="3240605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lassic Yellow Rubber Duck with Wings – ShipDucky">
            <a:extLst>
              <a:ext uri="{FF2B5EF4-FFF2-40B4-BE49-F238E27FC236}">
                <a16:creationId xmlns:a16="http://schemas.microsoft.com/office/drawing/2014/main" id="{832F9755-F82F-EB8C-B779-5E7996868E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2236" y="-66717"/>
            <a:ext cx="6873815" cy="6873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5120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6E416-106B-9B81-85F4-125D200AE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36D54-C628-257C-D28C-7B8E64A59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Convolutional 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B243C-1742-E17D-2B0B-1D06903CB56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Translational equivariance</a:t>
            </a: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C44E2E-8E0D-087E-34B1-365F392F9C80}"/>
              </a:ext>
            </a:extLst>
          </p:cNvPr>
          <p:cNvSpPr/>
          <p:nvPr/>
        </p:nvSpPr>
        <p:spPr>
          <a:xfrm>
            <a:off x="986589" y="3429000"/>
            <a:ext cx="3553326" cy="30239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Graphic 6" descr="Swan outline">
            <a:extLst>
              <a:ext uri="{FF2B5EF4-FFF2-40B4-BE49-F238E27FC236}">
                <a16:creationId xmlns:a16="http://schemas.microsoft.com/office/drawing/2014/main" id="{DD4830B4-3A76-9238-7F1B-1B4131152F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2659" y="5325083"/>
            <a:ext cx="914400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8E1AAD4-62FB-FDDB-86AA-5B8A6B7FCC62}"/>
              </a:ext>
            </a:extLst>
          </p:cNvPr>
          <p:cNvSpPr/>
          <p:nvPr/>
        </p:nvSpPr>
        <p:spPr>
          <a:xfrm>
            <a:off x="8173454" y="3429000"/>
            <a:ext cx="3553326" cy="30239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 descr="Swan outline">
            <a:extLst>
              <a:ext uri="{FF2B5EF4-FFF2-40B4-BE49-F238E27FC236}">
                <a16:creationId xmlns:a16="http://schemas.microsoft.com/office/drawing/2014/main" id="{FCAE1193-4314-7AEB-04DA-435EE23073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76965" y="3514212"/>
            <a:ext cx="914400" cy="914400"/>
          </a:xfrm>
          <a:prstGeom prst="rect">
            <a:avLst/>
          </a:prstGeom>
        </p:spPr>
      </p:pic>
      <p:sp>
        <p:nvSpPr>
          <p:cNvPr id="10" name="Left-Right Arrow 9">
            <a:extLst>
              <a:ext uri="{FF2B5EF4-FFF2-40B4-BE49-F238E27FC236}">
                <a16:creationId xmlns:a16="http://schemas.microsoft.com/office/drawing/2014/main" id="{6AEC71F2-139B-12E6-F4A5-6CA8E92DA71E}"/>
              </a:ext>
            </a:extLst>
          </p:cNvPr>
          <p:cNvSpPr/>
          <p:nvPr/>
        </p:nvSpPr>
        <p:spPr>
          <a:xfrm>
            <a:off x="5098560" y="4814095"/>
            <a:ext cx="2761129" cy="41232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Equivariance</a:t>
            </a:r>
          </a:p>
        </p:txBody>
      </p:sp>
    </p:spTree>
    <p:extLst>
      <p:ext uri="{BB962C8B-B14F-4D97-AF65-F5344CB8AC3E}">
        <p14:creationId xmlns:p14="http://schemas.microsoft.com/office/powerpoint/2010/main" val="1249861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74F4B-91B4-588E-7A55-D29FEE660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Translational equivariance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7DA205-4548-C3F6-39F5-ECD6E8B1D0B9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mtClean="0"/>
                        <m:t>f</m:t>
                      </m:r>
                      <m:r>
                        <m:rPr>
                          <m:nor/>
                        </m:rPr>
                        <a:rPr lang="en-US" smtClean="0"/>
                        <m:t>(</m:t>
                      </m:r>
                      <m:r>
                        <m:rPr>
                          <m:nor/>
                        </m:rPr>
                        <a:rPr lang="en-US" smtClean="0"/>
                        <m:t>T</m:t>
                      </m:r>
                      <m:r>
                        <m:rPr>
                          <m:nor/>
                        </m:rPr>
                        <a:rPr lang="en-US" smtClean="0"/>
                        <m:t>(</m:t>
                      </m:r>
                      <m:r>
                        <m:rPr>
                          <m:nor/>
                        </m:rPr>
                        <a:rPr lang="en-US" smtClean="0"/>
                        <m:t>x</m:t>
                      </m:r>
                      <m:r>
                        <m:rPr>
                          <m:nor/>
                        </m:rPr>
                        <a:rPr lang="en-US" smtClean="0"/>
                        <m:t>)) = </m:t>
                      </m:r>
                      <m:r>
                        <m:rPr>
                          <m:nor/>
                        </m:rPr>
                        <a:rPr lang="en-US" smtClean="0"/>
                        <m:t>T</m:t>
                      </m:r>
                      <m:r>
                        <m:rPr>
                          <m:nor/>
                        </m:rPr>
                        <a:rPr lang="en-US" smtClean="0"/>
                        <m:t>(</m:t>
                      </m:r>
                      <m:r>
                        <m:rPr>
                          <m:nor/>
                        </m:rPr>
                        <a:rPr lang="en-US" smtClean="0"/>
                        <m:t>f</m:t>
                      </m:r>
                      <m:r>
                        <m:rPr>
                          <m:nor/>
                        </m:rPr>
                        <a:rPr lang="en-US" smtClean="0"/>
                        <m:t>(</m:t>
                      </m:r>
                      <m:r>
                        <m:rPr>
                          <m:nor/>
                        </m:rPr>
                        <a:rPr lang="en-US" smtClean="0"/>
                        <m:t>x</m:t>
                      </m:r>
                      <m:r>
                        <m:rPr>
                          <m:nor/>
                        </m:rPr>
                        <a:rPr lang="en-US" smtClean="0"/>
                        <m:t>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7DA205-4548-C3F6-39F5-ECD6E8B1D0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FD6F9AA-28D8-A0DA-B461-BAD6B13CA49F}"/>
              </a:ext>
            </a:extLst>
          </p:cNvPr>
          <p:cNvSpPr txBox="1"/>
          <p:nvPr/>
        </p:nvSpPr>
        <p:spPr>
          <a:xfrm>
            <a:off x="1362009" y="2850777"/>
            <a:ext cx="10363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Where F is a function (learnable), T is translational operation (move object) and X is the input image</a:t>
            </a:r>
          </a:p>
        </p:txBody>
      </p:sp>
    </p:spTree>
    <p:extLst>
      <p:ext uri="{BB962C8B-B14F-4D97-AF65-F5344CB8AC3E}">
        <p14:creationId xmlns:p14="http://schemas.microsoft.com/office/powerpoint/2010/main" val="2824385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A0C9F-26F2-0B66-271A-0D80B6FCC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Locality</a:t>
            </a:r>
          </a:p>
        </p:txBody>
      </p:sp>
      <p:pic>
        <p:nvPicPr>
          <p:cNvPr id="1026" name="Picture 2" descr="Classic Yellow Rubber Duck with Wings – ShipDucky">
            <a:extLst>
              <a:ext uri="{FF2B5EF4-FFF2-40B4-BE49-F238E27FC236}">
                <a16:creationId xmlns:a16="http://schemas.microsoft.com/office/drawing/2014/main" id="{C87E03D5-691C-E06D-2016-AD7BA9801A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762" y="2015125"/>
            <a:ext cx="2372844" cy="2372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310B698-3C3C-9BD5-0EFA-BE94A7AE8611}"/>
              </a:ext>
            </a:extLst>
          </p:cNvPr>
          <p:cNvCxnSpPr/>
          <p:nvPr/>
        </p:nvCxnSpPr>
        <p:spPr>
          <a:xfrm>
            <a:off x="1414732" y="1915064"/>
            <a:ext cx="362309" cy="672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27DA0AD-F137-7D26-DD34-39988BCC3F81}"/>
              </a:ext>
            </a:extLst>
          </p:cNvPr>
          <p:cNvCxnSpPr>
            <a:cxnSpLocks/>
          </p:cNvCxnSpPr>
          <p:nvPr/>
        </p:nvCxnSpPr>
        <p:spPr>
          <a:xfrm flipH="1">
            <a:off x="2032958" y="1859427"/>
            <a:ext cx="474743" cy="8252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DF61308-A124-DB8F-3322-B42BFD32B329}"/>
              </a:ext>
            </a:extLst>
          </p:cNvPr>
          <p:cNvCxnSpPr/>
          <p:nvPr/>
        </p:nvCxnSpPr>
        <p:spPr>
          <a:xfrm flipH="1" flipV="1">
            <a:off x="3157268" y="4054414"/>
            <a:ext cx="1794294" cy="4715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6477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F81D6-7615-5182-63E0-579E32585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009E3-501E-D904-95C6-309C26C18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Locality</a:t>
            </a:r>
          </a:p>
        </p:txBody>
      </p:sp>
      <p:pic>
        <p:nvPicPr>
          <p:cNvPr id="1026" name="Picture 2" descr="Classic Yellow Rubber Duck with Wings – ShipDucky">
            <a:extLst>
              <a:ext uri="{FF2B5EF4-FFF2-40B4-BE49-F238E27FC236}">
                <a16:creationId xmlns:a16="http://schemas.microsoft.com/office/drawing/2014/main" id="{97EC6F96-8CD3-DEF0-786A-DF2206F07B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762" y="2015125"/>
            <a:ext cx="2372844" cy="2372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C0F6411-2DF7-2305-22A8-FF67BB0915CB}"/>
              </a:ext>
            </a:extLst>
          </p:cNvPr>
          <p:cNvCxnSpPr/>
          <p:nvPr/>
        </p:nvCxnSpPr>
        <p:spPr>
          <a:xfrm>
            <a:off x="1414732" y="1915064"/>
            <a:ext cx="362309" cy="672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A2DA087-0975-109F-B3E2-B6719824B477}"/>
              </a:ext>
            </a:extLst>
          </p:cNvPr>
          <p:cNvCxnSpPr>
            <a:cxnSpLocks/>
          </p:cNvCxnSpPr>
          <p:nvPr/>
        </p:nvCxnSpPr>
        <p:spPr>
          <a:xfrm flipH="1">
            <a:off x="2032958" y="1859427"/>
            <a:ext cx="474743" cy="8252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5FFD359-D5CA-A5D0-E7A2-667F15AAEBB3}"/>
              </a:ext>
            </a:extLst>
          </p:cNvPr>
          <p:cNvCxnSpPr/>
          <p:nvPr/>
        </p:nvCxnSpPr>
        <p:spPr>
          <a:xfrm flipH="1" flipV="1">
            <a:off x="3157268" y="4054414"/>
            <a:ext cx="1794294" cy="4715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B4E5D89-3AB7-892D-23DD-A58DAB1E307D}"/>
              </a:ext>
            </a:extLst>
          </p:cNvPr>
          <p:cNvSpPr txBox="1"/>
          <p:nvPr/>
        </p:nvSpPr>
        <p:spPr>
          <a:xfrm>
            <a:off x="3787576" y="1915064"/>
            <a:ext cx="6280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Features matter more if they are close together.</a:t>
            </a:r>
          </a:p>
        </p:txBody>
      </p:sp>
    </p:spTree>
    <p:extLst>
      <p:ext uri="{BB962C8B-B14F-4D97-AF65-F5344CB8AC3E}">
        <p14:creationId xmlns:p14="http://schemas.microsoft.com/office/powerpoint/2010/main" val="3533419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0EEDD-C6F4-97BB-E7DF-CCCF2C899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Hierarchical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85346-B790-C5A1-4E55-217AB680630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Early features capture simple features like edges and colors</a:t>
            </a:r>
          </a:p>
          <a:p>
            <a:r>
              <a:rPr lang="en-US" dirty="0"/>
              <a:t>Deeper layers combine these features to more complex patterns (shapes, eventually objects)</a:t>
            </a:r>
          </a:p>
        </p:txBody>
      </p:sp>
    </p:spTree>
    <p:extLst>
      <p:ext uri="{BB962C8B-B14F-4D97-AF65-F5344CB8AC3E}">
        <p14:creationId xmlns:p14="http://schemas.microsoft.com/office/powerpoint/2010/main" val="3347236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63A3C-9EF9-283E-2224-F4F5546AD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Convolutional Network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AEB0CD-77DC-430F-8A1E-C99B8E18A1C8}"/>
              </a:ext>
            </a:extLst>
          </p:cNvPr>
          <p:cNvSpPr/>
          <p:nvPr/>
        </p:nvSpPr>
        <p:spPr>
          <a:xfrm>
            <a:off x="2673563" y="2518913"/>
            <a:ext cx="104142" cy="25879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4C2E26-E02C-26B5-33B9-B6365C4361E1}"/>
              </a:ext>
            </a:extLst>
          </p:cNvPr>
          <p:cNvSpPr txBox="1"/>
          <p:nvPr/>
        </p:nvSpPr>
        <p:spPr>
          <a:xfrm>
            <a:off x="2191706" y="2132909"/>
            <a:ext cx="1322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32x32x3</a:t>
            </a:r>
          </a:p>
        </p:txBody>
      </p:sp>
      <p:pic>
        <p:nvPicPr>
          <p:cNvPr id="6" name="Picture 2" descr="Classic Yellow Rubber Duck with Wings – ShipDucky">
            <a:extLst>
              <a:ext uri="{FF2B5EF4-FFF2-40B4-BE49-F238E27FC236}">
                <a16:creationId xmlns:a16="http://schemas.microsoft.com/office/drawing/2014/main" id="{75784837-A194-2164-7F36-3EA77DC770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208553" y="3079049"/>
            <a:ext cx="1078883" cy="1078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A6B3B6D-D511-17ED-6ADD-92F17C11C314}"/>
              </a:ext>
            </a:extLst>
          </p:cNvPr>
          <p:cNvSpPr/>
          <p:nvPr/>
        </p:nvSpPr>
        <p:spPr>
          <a:xfrm>
            <a:off x="4102672" y="3338020"/>
            <a:ext cx="104142" cy="67861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AB31E0-9351-13EE-70DE-F64CCAB4D2F2}"/>
              </a:ext>
            </a:extLst>
          </p:cNvPr>
          <p:cNvSpPr txBox="1"/>
          <p:nvPr/>
        </p:nvSpPr>
        <p:spPr>
          <a:xfrm>
            <a:off x="1166857" y="2722433"/>
            <a:ext cx="1727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 Image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14B97E-D442-598E-064F-A72C12C363C7}"/>
              </a:ext>
            </a:extLst>
          </p:cNvPr>
          <p:cNvSpPr txBox="1"/>
          <p:nvPr/>
        </p:nvSpPr>
        <p:spPr>
          <a:xfrm>
            <a:off x="3537428" y="2951374"/>
            <a:ext cx="1727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Filter 5x5x3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31C65C-9F16-9016-80B0-D7FD393BA733}"/>
              </a:ext>
            </a:extLst>
          </p:cNvPr>
          <p:cNvSpPr txBox="1"/>
          <p:nvPr/>
        </p:nvSpPr>
        <p:spPr>
          <a:xfrm>
            <a:off x="1027139" y="5463453"/>
            <a:ext cx="3651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Convolve the filter with the image.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5F8F76-CCE0-401B-9A37-F4CA3B74ECA4}"/>
              </a:ext>
            </a:extLst>
          </p:cNvPr>
          <p:cNvSpPr txBox="1"/>
          <p:nvPr/>
        </p:nvSpPr>
        <p:spPr>
          <a:xfrm>
            <a:off x="1027139" y="5820069"/>
            <a:ext cx="8040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Convolving means “slide over the image spatially, computing dot products”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8974002-1876-DFE8-8529-EEBE49B0E9FB}"/>
              </a:ext>
            </a:extLst>
          </p:cNvPr>
          <p:cNvCxnSpPr/>
          <p:nvPr/>
        </p:nvCxnSpPr>
        <p:spPr>
          <a:xfrm>
            <a:off x="2894588" y="3677326"/>
            <a:ext cx="10390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62BC52B-60B5-9331-C709-0A319BA8B175}"/>
              </a:ext>
            </a:extLst>
          </p:cNvPr>
          <p:cNvCxnSpPr/>
          <p:nvPr/>
        </p:nvCxnSpPr>
        <p:spPr>
          <a:xfrm>
            <a:off x="4294943" y="3677326"/>
            <a:ext cx="10390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073DEE0-A9A1-7848-7904-A96929F4E806}"/>
              </a:ext>
            </a:extLst>
          </p:cNvPr>
          <p:cNvSpPr/>
          <p:nvPr/>
        </p:nvSpPr>
        <p:spPr>
          <a:xfrm>
            <a:off x="6096000" y="2518913"/>
            <a:ext cx="104142" cy="258791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940E9C1-26FB-232F-9956-8F16EFC25A20}"/>
              </a:ext>
            </a:extLst>
          </p:cNvPr>
          <p:cNvSpPr/>
          <p:nvPr/>
        </p:nvSpPr>
        <p:spPr>
          <a:xfrm>
            <a:off x="6265653" y="2518913"/>
            <a:ext cx="104142" cy="258791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B73C102-B310-34F1-FFEA-B1B05B42914C}"/>
              </a:ext>
            </a:extLst>
          </p:cNvPr>
          <p:cNvSpPr/>
          <p:nvPr/>
        </p:nvSpPr>
        <p:spPr>
          <a:xfrm>
            <a:off x="6435306" y="2524374"/>
            <a:ext cx="104142" cy="258791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E85E7DC-29F1-516F-E852-CE8E4AE3C384}"/>
              </a:ext>
            </a:extLst>
          </p:cNvPr>
          <p:cNvSpPr/>
          <p:nvPr/>
        </p:nvSpPr>
        <p:spPr>
          <a:xfrm>
            <a:off x="6604959" y="2518913"/>
            <a:ext cx="104142" cy="258791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73BC33-9031-3499-CDEF-CD8A706BFA5B}"/>
              </a:ext>
            </a:extLst>
          </p:cNvPr>
          <p:cNvSpPr txBox="1"/>
          <p:nvPr/>
        </p:nvSpPr>
        <p:spPr>
          <a:xfrm>
            <a:off x="5668593" y="2132909"/>
            <a:ext cx="1727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Activation maps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1A945A-293A-4738-2B35-5016AE9F5EE1}"/>
              </a:ext>
            </a:extLst>
          </p:cNvPr>
          <p:cNvSpPr txBox="1"/>
          <p:nvPr/>
        </p:nvSpPr>
        <p:spPr>
          <a:xfrm>
            <a:off x="7135057" y="3463383"/>
            <a:ext cx="508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Number of filters = number of activation maps</a:t>
            </a:r>
          </a:p>
        </p:txBody>
      </p:sp>
    </p:spTree>
    <p:extLst>
      <p:ext uri="{BB962C8B-B14F-4D97-AF65-F5344CB8AC3E}">
        <p14:creationId xmlns:p14="http://schemas.microsoft.com/office/powerpoint/2010/main" val="1430433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C74F5E2-45E3-D4C9-4858-A7BD66AD7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7" y="4169001"/>
            <a:ext cx="11442941" cy="1969816"/>
          </a:xfrm>
          <a:prstGeom prst="rect">
            <a:avLst/>
          </a:prstGeom>
        </p:spPr>
      </p:pic>
      <p:pic>
        <p:nvPicPr>
          <p:cNvPr id="5" name="Picture 2" descr="Classic Yellow Rubber Duck with Wings – ShipDucky">
            <a:extLst>
              <a:ext uri="{FF2B5EF4-FFF2-40B4-BE49-F238E27FC236}">
                <a16:creationId xmlns:a16="http://schemas.microsoft.com/office/drawing/2014/main" id="{8A1E0EF4-A428-2B2D-3746-BA28DB876F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190" y="1491790"/>
            <a:ext cx="1412438" cy="1412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EFDEC2A-4FB4-24C4-3215-EB47B09AC117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>
            <a:off x="2204628" y="2198009"/>
            <a:ext cx="5730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431CBBC9-1893-AEDD-6F8B-A96EF6BFA98D}"/>
              </a:ext>
            </a:extLst>
          </p:cNvPr>
          <p:cNvSpPr/>
          <p:nvPr/>
        </p:nvSpPr>
        <p:spPr>
          <a:xfrm>
            <a:off x="2777705" y="1835699"/>
            <a:ext cx="1604513" cy="7246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Low Level Features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2AF66D-B74A-BFD6-4F72-F7103192309F}"/>
              </a:ext>
            </a:extLst>
          </p:cNvPr>
          <p:cNvSpPr/>
          <p:nvPr/>
        </p:nvSpPr>
        <p:spPr>
          <a:xfrm>
            <a:off x="5049328" y="1835698"/>
            <a:ext cx="1604513" cy="7246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Mid Level Features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93E0068-F936-45AD-394C-B823C5E5C7FC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 flipV="1">
            <a:off x="4382218" y="2198008"/>
            <a:ext cx="66711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393B66C1-25E4-ADB5-7500-BCB336BA10DB}"/>
              </a:ext>
            </a:extLst>
          </p:cNvPr>
          <p:cNvSpPr/>
          <p:nvPr/>
        </p:nvSpPr>
        <p:spPr>
          <a:xfrm>
            <a:off x="7364083" y="1835698"/>
            <a:ext cx="1604513" cy="7246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High Level Features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26C0EC1-69E1-AD2D-D8CE-5A34A3D1644A}"/>
              </a:ext>
            </a:extLst>
          </p:cNvPr>
          <p:cNvCxnSpPr>
            <a:cxnSpLocks/>
            <a:stCxn id="10" idx="3"/>
            <a:endCxn id="15" idx="1"/>
          </p:cNvCxnSpPr>
          <p:nvPr/>
        </p:nvCxnSpPr>
        <p:spPr>
          <a:xfrm>
            <a:off x="6653841" y="2198008"/>
            <a:ext cx="7102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B2863F5-A1BD-9701-AFD4-DB7BEB0BBCA3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8968596" y="2198008"/>
            <a:ext cx="7792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C3EF315-4594-1841-CB7A-3976638989D1}"/>
              </a:ext>
            </a:extLst>
          </p:cNvPr>
          <p:cNvSpPr txBox="1"/>
          <p:nvPr/>
        </p:nvSpPr>
        <p:spPr>
          <a:xfrm>
            <a:off x="9747849" y="2013341"/>
            <a:ext cx="1412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Rubber duck!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582DB35-C57F-E2BF-9522-39A6F740CCD5}"/>
              </a:ext>
            </a:extLst>
          </p:cNvPr>
          <p:cNvCxnSpPr>
            <a:endCxn id="8" idx="2"/>
          </p:cNvCxnSpPr>
          <p:nvPr/>
        </p:nvCxnSpPr>
        <p:spPr>
          <a:xfrm flipV="1">
            <a:off x="792190" y="2560318"/>
            <a:ext cx="2787772" cy="1608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5243D42-5031-1EC9-29A0-D17642E9CBF2}"/>
              </a:ext>
            </a:extLst>
          </p:cNvPr>
          <p:cNvCxnSpPr>
            <a:stCxn id="4" idx="0"/>
            <a:endCxn id="10" idx="2"/>
          </p:cNvCxnSpPr>
          <p:nvPr/>
        </p:nvCxnSpPr>
        <p:spPr>
          <a:xfrm flipV="1">
            <a:off x="5786168" y="2560317"/>
            <a:ext cx="65417" cy="16086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768345F-582A-2D54-2779-E08EC509AF97}"/>
              </a:ext>
            </a:extLst>
          </p:cNvPr>
          <p:cNvCxnSpPr>
            <a:endCxn id="15" idx="2"/>
          </p:cNvCxnSpPr>
          <p:nvPr/>
        </p:nvCxnSpPr>
        <p:spPr>
          <a:xfrm flipH="1" flipV="1">
            <a:off x="8166340" y="2560317"/>
            <a:ext cx="2104845" cy="16086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68471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540A4-F2F9-D67B-0301-821587DC9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Convolutional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D75EF-E9B9-F187-B550-BAE9246E615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Convolutional layer parametrized by kernel size, filter count, padding, stride</a:t>
            </a:r>
          </a:p>
          <a:p>
            <a:r>
              <a:rPr lang="en-US" dirty="0"/>
              <a:t>Normalization layers</a:t>
            </a:r>
          </a:p>
          <a:p>
            <a:r>
              <a:rPr lang="en-US" dirty="0"/>
              <a:t>Activation functions</a:t>
            </a:r>
          </a:p>
          <a:p>
            <a:r>
              <a:rPr lang="en-US" dirty="0"/>
              <a:t>Pooling layers</a:t>
            </a:r>
          </a:p>
        </p:txBody>
      </p:sp>
    </p:spTree>
    <p:extLst>
      <p:ext uri="{BB962C8B-B14F-4D97-AF65-F5344CB8AC3E}">
        <p14:creationId xmlns:p14="http://schemas.microsoft.com/office/powerpoint/2010/main" val="601521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green square object&#10;&#10;AI-generated content may be incorrect.">
            <a:extLst>
              <a:ext uri="{FF2B5EF4-FFF2-40B4-BE49-F238E27FC236}">
                <a16:creationId xmlns:a16="http://schemas.microsoft.com/office/drawing/2014/main" id="{3D0DB03D-AE7C-1191-48CC-0C8079757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9408" y="1732592"/>
            <a:ext cx="1195884" cy="12694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7CA8DB-86C0-7D7B-49E1-FD3916801308}"/>
              </a:ext>
            </a:extLst>
          </p:cNvPr>
          <p:cNvSpPr txBox="1"/>
          <p:nvPr/>
        </p:nvSpPr>
        <p:spPr>
          <a:xfrm>
            <a:off x="1345720" y="1288211"/>
            <a:ext cx="2697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 padding, No stride</a:t>
            </a:r>
          </a:p>
        </p:txBody>
      </p:sp>
      <p:pic>
        <p:nvPicPr>
          <p:cNvPr id="8" name="Picture 7" descr="A blue and green grid&#10;&#10;AI-generated content may be incorrect.">
            <a:extLst>
              <a:ext uri="{FF2B5EF4-FFF2-40B4-BE49-F238E27FC236}">
                <a16:creationId xmlns:a16="http://schemas.microsoft.com/office/drawing/2014/main" id="{DFFE70B9-3AFC-F468-4332-763494DF70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5930" y="1657543"/>
            <a:ext cx="1348806" cy="13212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4BE691F-EC21-A8A7-E85C-1A381228A7BE}"/>
              </a:ext>
            </a:extLst>
          </p:cNvPr>
          <p:cNvSpPr txBox="1"/>
          <p:nvPr/>
        </p:nvSpPr>
        <p:spPr>
          <a:xfrm>
            <a:off x="7272067" y="1288211"/>
            <a:ext cx="2697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 padding, Stride</a:t>
            </a:r>
          </a:p>
        </p:txBody>
      </p:sp>
      <p:pic>
        <p:nvPicPr>
          <p:cNvPr id="11" name="Picture 10" descr="A diagram of a grid&#10;&#10;AI-generated content may be incorrect.">
            <a:extLst>
              <a:ext uri="{FF2B5EF4-FFF2-40B4-BE49-F238E27FC236}">
                <a16:creationId xmlns:a16="http://schemas.microsoft.com/office/drawing/2014/main" id="{59D6CECE-4C4D-FEFF-DFF9-B354FE2E9B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5106" y="4248511"/>
            <a:ext cx="1189099" cy="114695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F9BCC46-2FC5-4276-F7A8-03E5F41A420C}"/>
              </a:ext>
            </a:extLst>
          </p:cNvPr>
          <p:cNvSpPr txBox="1"/>
          <p:nvPr/>
        </p:nvSpPr>
        <p:spPr>
          <a:xfrm>
            <a:off x="7139796" y="3879179"/>
            <a:ext cx="2697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Padding, Stride</a:t>
            </a:r>
          </a:p>
        </p:txBody>
      </p:sp>
      <p:pic>
        <p:nvPicPr>
          <p:cNvPr id="14" name="Picture 13" descr="A blue and green squares&#10;&#10;AI-generated content may be incorrect.">
            <a:extLst>
              <a:ext uri="{FF2B5EF4-FFF2-40B4-BE49-F238E27FC236}">
                <a16:creationId xmlns:a16="http://schemas.microsoft.com/office/drawing/2014/main" id="{2BAE4671-8143-78B4-9B4E-9D55FD8351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9408" y="4471239"/>
            <a:ext cx="966430" cy="109855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BF09397-4FF4-9F9A-5B3A-A37E1DB95160}"/>
              </a:ext>
            </a:extLst>
          </p:cNvPr>
          <p:cNvSpPr txBox="1"/>
          <p:nvPr/>
        </p:nvSpPr>
        <p:spPr>
          <a:xfrm>
            <a:off x="1348594" y="4063845"/>
            <a:ext cx="2697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Padding, No Stride</a:t>
            </a:r>
          </a:p>
        </p:txBody>
      </p:sp>
    </p:spTree>
    <p:extLst>
      <p:ext uri="{BB962C8B-B14F-4D97-AF65-F5344CB8AC3E}">
        <p14:creationId xmlns:p14="http://schemas.microsoft.com/office/powerpoint/2010/main" val="21853272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66047-A8D3-1581-7349-4C0B21E0CC9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9012" y="1101884"/>
            <a:ext cx="10363826" cy="3424107"/>
          </a:xfrm>
        </p:spPr>
        <p:txBody>
          <a:bodyPr/>
          <a:lstStyle/>
          <a:p>
            <a:r>
              <a:rPr lang="en-US" dirty="0">
                <a:hlinkClick r:id="rId2"/>
              </a:rPr>
              <a:t>Demo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244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0831A-2DA9-156E-755D-41219FC98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Pooling layers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C4CED-9E91-1FCF-4331-E81368F4CA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0001" y="1824178"/>
            <a:ext cx="4255817" cy="1205528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Max pooling</a:t>
            </a:r>
          </a:p>
          <a:p>
            <a:r>
              <a:rPr lang="en-US" dirty="0"/>
              <a:t>Mean pooling</a:t>
            </a:r>
          </a:p>
          <a:p>
            <a:r>
              <a:rPr lang="en-US" dirty="0"/>
              <a:t>Used to </a:t>
            </a:r>
            <a:r>
              <a:rPr lang="en-US" dirty="0" err="1"/>
              <a:t>downsample</a:t>
            </a:r>
            <a:r>
              <a:rPr lang="en-US" dirty="0"/>
              <a:t> data (computationally efficient)</a:t>
            </a:r>
          </a:p>
        </p:txBody>
      </p:sp>
      <p:pic>
        <p:nvPicPr>
          <p:cNvPr id="6148" name="Picture 4" descr="Illustration of Max Pooling and Average Pooling Figure 2 above shows an...  | Download Scientific Diagram">
            <a:extLst>
              <a:ext uri="{FF2B5EF4-FFF2-40B4-BE49-F238E27FC236}">
                <a16:creationId xmlns:a16="http://schemas.microsoft.com/office/drawing/2014/main" id="{DCC0E3DF-CD1E-6843-4441-A31EC85244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5480" y="1824178"/>
            <a:ext cx="3894409" cy="339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37185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290FB-CEA1-69AC-C580-AE6F1BFCD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7A870-F922-772B-E6C6-326B7808AE2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9012" y="1101884"/>
            <a:ext cx="10363826" cy="3424107"/>
          </a:xfrm>
        </p:spPr>
        <p:txBody>
          <a:bodyPr/>
          <a:lstStyle/>
          <a:p>
            <a:r>
              <a:rPr lang="en-US" dirty="0">
                <a:hlinkClick r:id="rId2"/>
              </a:rPr>
              <a:t>Demo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9176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71D26-4B04-40F3-6F1B-EC0B334C7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 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5EC88-BB65-CCB1-BF5E-3C2ED20BABD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How many parameters has one convolutional layer with 3x3 kernel and 64 input channels, 128 output channels?</a:t>
            </a:r>
          </a:p>
          <a:p>
            <a:endParaRPr lang="en-US" dirty="0"/>
          </a:p>
          <a:p>
            <a:r>
              <a:rPr lang="en-US" dirty="0"/>
              <a:t>73586 parameters</a:t>
            </a:r>
          </a:p>
        </p:txBody>
      </p:sp>
    </p:spTree>
    <p:extLst>
      <p:ext uri="{BB962C8B-B14F-4D97-AF65-F5344CB8AC3E}">
        <p14:creationId xmlns:p14="http://schemas.microsoft.com/office/powerpoint/2010/main" val="3158256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19149-D536-C611-ABC4-132D6BCBD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studies	(</a:t>
            </a:r>
            <a:r>
              <a:rPr lang="en-US" dirty="0" err="1"/>
              <a:t>resnet</a:t>
            </a:r>
            <a:r>
              <a:rPr lang="en-US" dirty="0"/>
              <a:t>)</a:t>
            </a:r>
          </a:p>
        </p:txBody>
      </p:sp>
      <p:sp>
        <p:nvSpPr>
          <p:cNvPr id="4" name="AutoShape 2" descr="8.6. Residual Networks (ResNet) and ResNeXt — Dive into Deep Learning 1.0.3  documentation">
            <a:extLst>
              <a:ext uri="{FF2B5EF4-FFF2-40B4-BE49-F238E27FC236}">
                <a16:creationId xmlns:a16="http://schemas.microsoft.com/office/drawing/2014/main" id="{62E43FED-3609-B356-0753-1D7F4D07989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F400B19-0D34-631B-BD62-2B275F11C9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6048" y="2015373"/>
            <a:ext cx="10291074" cy="30457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FA3DC05-09A2-4234-C863-F21A33F1718C}"/>
              </a:ext>
            </a:extLst>
          </p:cNvPr>
          <p:cNvSpPr txBox="1"/>
          <p:nvPr/>
        </p:nvSpPr>
        <p:spPr>
          <a:xfrm>
            <a:off x="626852" y="5164347"/>
            <a:ext cx="4341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ResNet</a:t>
            </a:r>
            <a:r>
              <a:rPr lang="en-US" dirty="0"/>
              <a:t> 18 architecture ±11.7m. parameters</a:t>
            </a:r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9FA1D968-A701-5ECE-425A-4880D606D3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4704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0DFC1-93EB-09EC-7883-02BEB1ECE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Localization</a:t>
            </a:r>
          </a:p>
        </p:txBody>
      </p:sp>
      <p:pic>
        <p:nvPicPr>
          <p:cNvPr id="8194" name="Picture 2" descr="Object Detection: The YOLO Algorithm in AI — Inspirit AI">
            <a:extLst>
              <a:ext uri="{FF2B5EF4-FFF2-40B4-BE49-F238E27FC236}">
                <a16:creationId xmlns:a16="http://schemas.microsoft.com/office/drawing/2014/main" id="{A44002C1-0785-5067-7BED-D3A59D8D9E62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5087" y="2377123"/>
            <a:ext cx="4521825" cy="2945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56570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423D4-AC9F-FDE0-7232-A9596B4BB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Segmentation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DB7C10-A604-6BB8-240E-0C92F0D4D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0840" y="1938231"/>
            <a:ext cx="6141720" cy="3897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9675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54ED8-E85B-45C1-5C13-DA8BD7CBF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tasks</a:t>
            </a:r>
          </a:p>
        </p:txBody>
      </p:sp>
      <p:pic>
        <p:nvPicPr>
          <p:cNvPr id="9218" name="Picture 2" descr="Classification of brain tumors as reported from the Central Brain Tumor...  | Download Scientific Diagram">
            <a:extLst>
              <a:ext uri="{FF2B5EF4-FFF2-40B4-BE49-F238E27FC236}">
                <a16:creationId xmlns:a16="http://schemas.microsoft.com/office/drawing/2014/main" id="{2C6186F8-F8F5-7CEE-B50D-638A77BA59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2094" y="1971040"/>
            <a:ext cx="6627811" cy="4366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5192238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5869</TotalTime>
  <Words>242</Words>
  <Application>Microsoft Macintosh PowerPoint</Application>
  <PresentationFormat>Widescreen</PresentationFormat>
  <Paragraphs>54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Arial</vt:lpstr>
      <vt:lpstr>Tw Cen MT</vt:lpstr>
      <vt:lpstr>Droplet</vt:lpstr>
      <vt:lpstr>Convolutional Neural Networks</vt:lpstr>
      <vt:lpstr>Convolutional Neural networks</vt:lpstr>
      <vt:lpstr>PowerPoint Presentation</vt:lpstr>
      <vt:lpstr>Convolutional Neural networks</vt:lpstr>
      <vt:lpstr>Translational equivariance</vt:lpstr>
      <vt:lpstr>Locality</vt:lpstr>
      <vt:lpstr>Locality</vt:lpstr>
      <vt:lpstr>Hierarchical features</vt:lpstr>
      <vt:lpstr>Convolutional Network</vt:lpstr>
      <vt:lpstr>PowerPoint Presentation</vt:lpstr>
      <vt:lpstr>Convolutional layer</vt:lpstr>
      <vt:lpstr>PowerPoint Presentation</vt:lpstr>
      <vt:lpstr>PowerPoint Presentation</vt:lpstr>
      <vt:lpstr>Pooling layers</vt:lpstr>
      <vt:lpstr>PowerPoint Presentation</vt:lpstr>
      <vt:lpstr>Pop quiz</vt:lpstr>
      <vt:lpstr>Case studies (resnet)</vt:lpstr>
      <vt:lpstr>Localization</vt:lpstr>
      <vt:lpstr>Segmentation</vt:lpstr>
      <vt:lpstr>Classification tasks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Matej Gazda</dc:creator>
  <cp:lastModifiedBy>Matej Gazda</cp:lastModifiedBy>
  <cp:revision>22</cp:revision>
  <dcterms:created xsi:type="dcterms:W3CDTF">2025-08-15T08:06:13Z</dcterms:created>
  <dcterms:modified xsi:type="dcterms:W3CDTF">2025-10-28T20:05:00Z</dcterms:modified>
</cp:coreProperties>
</file>